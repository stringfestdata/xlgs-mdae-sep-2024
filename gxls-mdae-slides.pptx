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256" r:id="rId2"/>
    <p:sldId id="358" r:id="rId3"/>
    <p:sldId id="258" r:id="rId4"/>
    <p:sldId id="425" r:id="rId5"/>
    <p:sldId id="442" r:id="rId6"/>
    <p:sldId id="394" r:id="rId7"/>
    <p:sldId id="427" r:id="rId8"/>
    <p:sldId id="380" r:id="rId9"/>
    <p:sldId id="428" r:id="rId10"/>
    <p:sldId id="381" r:id="rId11"/>
    <p:sldId id="429" r:id="rId12"/>
    <p:sldId id="390" r:id="rId13"/>
    <p:sldId id="430" r:id="rId14"/>
    <p:sldId id="382" r:id="rId15"/>
    <p:sldId id="441" r:id="rId16"/>
    <p:sldId id="426" r:id="rId17"/>
    <p:sldId id="431" r:id="rId18"/>
    <p:sldId id="383" r:id="rId19"/>
    <p:sldId id="432" r:id="rId20"/>
    <p:sldId id="384" r:id="rId21"/>
    <p:sldId id="433" r:id="rId22"/>
    <p:sldId id="385" r:id="rId23"/>
    <p:sldId id="434" r:id="rId24"/>
    <p:sldId id="386" r:id="rId25"/>
    <p:sldId id="440" r:id="rId26"/>
    <p:sldId id="435" r:id="rId27"/>
    <p:sldId id="436" r:id="rId28"/>
    <p:sldId id="387" r:id="rId29"/>
    <p:sldId id="437" r:id="rId30"/>
    <p:sldId id="388" r:id="rId31"/>
    <p:sldId id="438" r:id="rId32"/>
    <p:sldId id="439" r:id="rId33"/>
    <p:sldId id="372" r:id="rId34"/>
    <p:sldId id="265" r:id="rId35"/>
  </p:sldIdLst>
  <p:sldSz cx="18288000" cy="10287000"/>
  <p:notesSz cx="6858000" cy="9144000"/>
  <p:embeddedFontLst>
    <p:embeddedFont>
      <p:font typeface="Consolas" panose="020B0609020204030204" pitchFamily="49" charset="0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684158-E8C8-9BE0-21EB-718D906F94A5}" name="George Mount" initials="GM" userId="S::george@stringfestanalytics.com::22d0b802-afc6-4b8f-ba57-7a855d9692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orge Mount" initials="GM" lastIdx="9" clrIdx="0">
    <p:extLst>
      <p:ext uri="{19B8F6BF-5375-455C-9EA6-DF929625EA0E}">
        <p15:presenceInfo xmlns:p15="http://schemas.microsoft.com/office/powerpoint/2012/main" userId="57d2ab2a84d54c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338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78463" autoAdjust="0"/>
  </p:normalViewPr>
  <p:slideViewPr>
    <p:cSldViewPr>
      <p:cViewPr varScale="1">
        <p:scale>
          <a:sx n="39" d="100"/>
          <a:sy n="39" d="100"/>
        </p:scale>
        <p:origin x="792" y="25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98A70-FA8C-4354-959C-C70678AC9B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500C5-13F7-48FC-8160-C29AECF6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5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59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26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08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67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1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31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8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1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61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7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84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89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746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66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81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01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787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704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151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950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409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725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https://globalexcelsummit.com/product/modern-data-analytics-in-excel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21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72745-20C1-E1E0-B745-E3536DDC2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3BB3DA-A1A8-64D1-71C7-14F517D05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E1DF0-7987-5DF6-EB19-7E92F40D1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8EEE6-A66E-65DD-F057-829E6BA3E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57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stringfestdata/gxls-mdae/archive/refs/heads/main.zip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EB9D66-9CB4-B474-27D6-F594F19E2A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578B23-3522-A45E-113D-CFC55209E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598656"/>
            <a:ext cx="13716000" cy="3581400"/>
          </a:xfrm>
        </p:spPr>
        <p:txBody>
          <a:bodyPr>
            <a:normAutofit/>
          </a:bodyPr>
          <a:lstStyle/>
          <a:p>
            <a:r>
              <a:rPr lang="en-US" sz="9900" b="1" dirty="0">
                <a:solidFill>
                  <a:srgbClr val="241F62"/>
                </a:solidFill>
                <a:latin typeface="+mn-lt"/>
              </a:rPr>
              <a:t>Modern Data Analytics in Excel</a:t>
            </a:r>
            <a:endParaRPr lang="en-BG" sz="9900" b="1" dirty="0">
              <a:solidFill>
                <a:srgbClr val="241F62"/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DADD3B-A58B-45A3-D5DF-D99E4EB05D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069"/>
          <a:stretch/>
        </p:blipFill>
        <p:spPr>
          <a:xfrm>
            <a:off x="8153400" y="8430867"/>
            <a:ext cx="1981200" cy="97983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1C8D1E5-24B9-FEAC-440F-B059007D73CE}"/>
              </a:ext>
            </a:extLst>
          </p:cNvPr>
          <p:cNvSpPr txBox="1">
            <a:spLocks/>
          </p:cNvSpPr>
          <p:nvPr/>
        </p:nvSpPr>
        <p:spPr>
          <a:xfrm>
            <a:off x="13454742" y="548858"/>
            <a:ext cx="4082145" cy="945771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sz="4200" dirty="0">
                <a:solidFill>
                  <a:srgbClr val="241F62"/>
                </a:solidFill>
                <a:latin typeface="+mj-lt"/>
              </a:rPr>
              <a:t>George Mount</a:t>
            </a:r>
            <a:endParaRPr lang="en-BG" sz="4200" dirty="0">
              <a:solidFill>
                <a:srgbClr val="241F6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7564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>
                <a:solidFill>
                  <a:schemeClr val="bg1"/>
                </a:solidFill>
                <a:latin typeface="Normafixed Tryout" panose="00000409000000000000" pitchFamily="49" charset="0"/>
              </a:rPr>
              <a:t>Hi, I’m George</a:t>
            </a:r>
            <a:endParaRPr lang="en-US" sz="9900" b="1" dirty="0">
              <a:solidFill>
                <a:schemeClr val="bg1"/>
              </a:solidFill>
              <a:latin typeface="Normafixed Tryout" panose="00000409000000000000" pitchFamily="49" charset="0"/>
            </a:endParaRPr>
          </a:p>
        </p:txBody>
      </p:sp>
      <p:pic>
        <p:nvPicPr>
          <p:cNvPr id="3" name="Picture 4" descr="Advancing into Analytics Cover Image">
            <a:extLst>
              <a:ext uri="{FF2B5EF4-FFF2-40B4-BE49-F238E27FC236}">
                <a16:creationId xmlns:a16="http://schemas.microsoft.com/office/drawing/2014/main" id="{588F684B-18EF-D76C-5F7B-15E4BAD60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0913" y="456356"/>
            <a:ext cx="3646936" cy="476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Free photos of Cleveland">
            <a:extLst>
              <a:ext uri="{FF2B5EF4-FFF2-40B4-BE49-F238E27FC236}">
                <a16:creationId xmlns:a16="http://schemas.microsoft.com/office/drawing/2014/main" id="{CBA53EEE-E3E1-D99E-A4DC-1C4DD2E6C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601" y="2838028"/>
            <a:ext cx="7531585" cy="5013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7E0F267-87DF-961E-1FAA-47FD4F27A5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758" y="6210300"/>
            <a:ext cx="7448309" cy="5462681"/>
          </a:xfrm>
          <a:prstGeom prst="rect">
            <a:avLst/>
          </a:prstGeom>
        </p:spPr>
      </p:pic>
      <p:pic>
        <p:nvPicPr>
          <p:cNvPr id="1026" name="Picture 2" descr="Excel MVP Led Training - The Best Way to Learn Excel.">
            <a:extLst>
              <a:ext uri="{FF2B5EF4-FFF2-40B4-BE49-F238E27FC236}">
                <a16:creationId xmlns:a16="http://schemas.microsoft.com/office/drawing/2014/main" id="{1541E3A8-702A-355A-01A5-FFB43F9DE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268" y="8334375"/>
            <a:ext cx="4028188" cy="1615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Modern data analytics in Excel book cover">
            <a:extLst>
              <a:ext uri="{FF2B5EF4-FFF2-40B4-BE49-F238E27FC236}">
                <a16:creationId xmlns:a16="http://schemas.microsoft.com/office/drawing/2014/main" id="{4561131B-5250-BD3D-CCD7-1AB4619C9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1" y="2855703"/>
            <a:ext cx="3513720" cy="460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linkedinlearninginstructor #linkedinlearning | Thais Cooke | 80 comments">
            <a:extLst>
              <a:ext uri="{FF2B5EF4-FFF2-40B4-BE49-F238E27FC236}">
                <a16:creationId xmlns:a16="http://schemas.microsoft.com/office/drawing/2014/main" id="{8352FEA3-9CFE-D937-CF4C-B6FA82CCA4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8800" y="815983"/>
            <a:ext cx="33337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Objectives for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B</a:t>
            </a:r>
            <a:r>
              <a:rPr lang="en-US" sz="4400" b="0" i="0" dirty="0">
                <a:solidFill>
                  <a:srgbClr val="646464"/>
                </a:solidFill>
                <a:effectLst/>
                <a:latin typeface="Plus Jakarta Display"/>
              </a:rPr>
              <a:t>uild repeatable data cleaning workflows with Power Query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646464"/>
                </a:solidFill>
                <a:effectLst/>
                <a:latin typeface="Plus Jakarta Display"/>
              </a:rPr>
              <a:t>Build relational data models and dashboards straight from Excel with Power Pivot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b="0" i="0" dirty="0">
                <a:solidFill>
                  <a:srgbClr val="646464"/>
                </a:solidFill>
                <a:effectLst/>
                <a:latin typeface="Plus Jakarta Display"/>
              </a:rPr>
              <a:t>Use new Excel features like dynamic array functions, AI-powered insights, and Python integration</a:t>
            </a: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2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Following along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8800" dirty="0">
                <a:solidFill>
                  <a:srgbClr val="707070"/>
                </a:solidFill>
                <a:latin typeface="Pragmatica" panose="020B0403040502020204" pitchFamily="34" charset="0"/>
              </a:rPr>
              <a:t>Download the resources: </a:t>
            </a: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  <a:hlinkClick r:id="rId2"/>
              </a:rPr>
              <a:t>https://github.com/stringfestdata/gxls-mdae/archive/refs/heads/main.zip</a:t>
            </a:r>
            <a:r>
              <a:rPr lang="en-US" sz="5400" dirty="0">
                <a:solidFill>
                  <a:srgbClr val="707070"/>
                </a:solidFill>
                <a:latin typeface="Pragmatica" panose="020B0403040502020204" pitchFamily="34" charset="0"/>
              </a:rPr>
              <a:t> 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5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88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/>
              </a:rPr>
              <a:t>Data Cleaning with Power Query</a:t>
            </a:r>
          </a:p>
        </p:txBody>
      </p:sp>
    </p:spTree>
    <p:extLst>
      <p:ext uri="{BB962C8B-B14F-4D97-AF65-F5344CB8AC3E}">
        <p14:creationId xmlns:p14="http://schemas.microsoft.com/office/powerpoint/2010/main" val="4027644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1. First Steps in Power Query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Power Query as Excel’s ETL tool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A tour of Power Query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Data profiling in Power Query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646464"/>
              </a:solidFill>
              <a:latin typeface="Plus Jakarta Display"/>
            </a:endParaRPr>
          </a:p>
          <a:p>
            <a:pPr>
              <a:buClr>
                <a:srgbClr val="CF3338"/>
              </a:buClr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File: </a:t>
            </a:r>
            <a:r>
              <a:rPr lang="en-US" sz="4400" i="1" dirty="0">
                <a:solidFill>
                  <a:srgbClr val="646464"/>
                </a:solidFill>
                <a:latin typeface="Plus Jakarta Display"/>
              </a:rPr>
              <a:t>first-steps-power-query.xlsx</a:t>
            </a:r>
            <a:endParaRPr lang="en-US" sz="4200" i="1" dirty="0">
              <a:solidFill>
                <a:srgbClr val="707070"/>
              </a:solidFill>
              <a:latin typeface="Pragmatica" panose="020B0403040502020204" pitchFamily="34" charset="0"/>
            </a:endParaRP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54200" y="0"/>
            <a:ext cx="37338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0" y="329879"/>
            <a:ext cx="13684170" cy="996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First steps in Excel Power Query Exercises </a:t>
            </a:r>
            <a:endParaRPr lang="en-US" sz="40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Load the data into Power Query as a table. Name the query computers. 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Add an index column starting from 1 to the data. 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Rename the previous step in the Applied Steps list as “Added unique identifier.” 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Drag-and-drop the Index column so that it is the first column in the dataset. 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Power Query’s data profiling features to address the following questions. Be sure to adjust column profiling to work on the entire dataset. </a:t>
            </a:r>
          </a:p>
          <a:p>
            <a:pPr marL="1171575" lvl="1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What is the range of prices for the computers in the dataset?</a:t>
            </a:r>
          </a:p>
          <a:p>
            <a:pPr marL="1171575" lvl="1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What is the average amount of RAM in the dataset? </a:t>
            </a:r>
          </a:p>
          <a:p>
            <a:pPr marL="1171575" lvl="1" indent="-5715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Are there any missing values in this dataset? If so, where? 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Load the query results into an Excel PivotTable.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2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first-steps-power-query-exercises.xlsx</a:t>
            </a:r>
            <a:endParaRPr lang="en-US" sz="5400" dirty="0">
              <a:solidFill>
                <a:srgbClr val="CF3338"/>
              </a:solidFill>
              <a:latin typeface="Consolas" panose="020B0609020204030204" pitchFamily="49" charset="0"/>
            </a:endParaRPr>
          </a:p>
          <a:p>
            <a:endParaRPr lang="en-US" sz="54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284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2. Transforming rows in Power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646464"/>
                </a:solidFill>
                <a:latin typeface="Plus Jakarta Display"/>
              </a:rPr>
              <a:t>Cleaning a roster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Loading &amp; refreshing the results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Splitting data by row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>
              <a:buClr>
                <a:srgbClr val="CF3338"/>
              </a:buClr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File: </a:t>
            </a:r>
            <a:r>
              <a:rPr lang="en-US" sz="4200" i="1" dirty="0">
                <a:solidFill>
                  <a:srgbClr val="707070"/>
                </a:solidFill>
                <a:latin typeface="Pragmatica" panose="020B0403040502020204" pitchFamily="34" charset="0"/>
              </a:rPr>
              <a:t>transforming-rows-power-query.xlsx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04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54200" y="0"/>
            <a:ext cx="37338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0" y="329879"/>
            <a:ext cx="13684170" cy="9535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Transforming rows in Power Query Exercises </a:t>
            </a:r>
            <a:endParaRPr lang="en-US" sz="40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On the states worksheet: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Remove the United States row from the data.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Fill down blanks on the region and division columns.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Sort by population from high to low.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Load results into a PivotTable.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endParaRPr lang="en-US" sz="3200" dirty="0">
              <a:solidFill>
                <a:srgbClr val="C00000"/>
              </a:solidFill>
              <a:latin typeface="Pragmatica" panose="020B0403040502020204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On the </a:t>
            </a:r>
            <a:r>
              <a:rPr lang="en-US" sz="3200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midwest_cities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worksheet: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Load this data into a table where each city is in its own row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endParaRPr lang="en-US" sz="3200" dirty="0">
              <a:solidFill>
                <a:srgbClr val="C00000"/>
              </a:solidFill>
              <a:latin typeface="Pragmatica" panose="020B0403040502020204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endParaRPr lang="en-US" sz="3200" dirty="0">
              <a:solidFill>
                <a:srgbClr val="C00000"/>
              </a:solidFill>
              <a:latin typeface="Pragmatica" panose="020B0403040502020204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2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transforming-rows-power-query-exercises.xlsx</a:t>
            </a:r>
            <a:endParaRPr lang="en-US" sz="5400" dirty="0">
              <a:solidFill>
                <a:srgbClr val="CF3338"/>
              </a:solidFill>
              <a:latin typeface="Consolas" panose="020B0609020204030204" pitchFamily="49" charset="0"/>
            </a:endParaRPr>
          </a:p>
          <a:p>
            <a:endParaRPr lang="en-US" sz="54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781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3. Transforming columns in Power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Cleaning text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Changing data types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Creating calculated columns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Reshaping data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>
              <a:buClr>
                <a:srgbClr val="CF3338"/>
              </a:buClr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File: </a:t>
            </a:r>
            <a:r>
              <a:rPr lang="en-US" sz="4200" i="1" dirty="0">
                <a:solidFill>
                  <a:srgbClr val="707070"/>
                </a:solidFill>
                <a:latin typeface="Pragmatica" panose="020B0403040502020204" pitchFamily="34" charset="0"/>
              </a:rPr>
              <a:t>transforming-columns-power-query.xlsx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12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54200" y="0"/>
            <a:ext cx="37338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0" y="329879"/>
            <a:ext cx="13684170" cy="10509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Transforming columns in Power Query Exercises </a:t>
            </a:r>
            <a:endParaRPr lang="en-US" sz="40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Transform the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date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column to a month format, such as changing 1/1/2023 to January.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Transform the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owner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column to proper case.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Split the location column into two separate columns: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zip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and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state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.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Reshape the dataset so that </a:t>
            </a: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subscription_cost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, </a:t>
            </a: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support_cost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, and </a:t>
            </a: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services_cost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are consolidated into two columns: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category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and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cost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.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Introduce a new column named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tax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that calculates 7% of the values in the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cost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column.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Convert the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zip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variable to the Text data type, and update both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cost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and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tax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columns to Currency.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Load the results to a table.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2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transforming-columns-power-query.xlsx</a:t>
            </a:r>
            <a:endParaRPr lang="en-US" sz="5400" dirty="0">
              <a:solidFill>
                <a:srgbClr val="CF3338"/>
              </a:solidFill>
              <a:latin typeface="Consolas" panose="020B0609020204030204" pitchFamily="49" charset="0"/>
            </a:endParaRPr>
          </a:p>
          <a:p>
            <a:endParaRPr lang="en-US" sz="54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662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4. Appending and merging in Power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Appending multiple sources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Understanding relational joins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Managing &amp; auditing queries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>
              <a:buClr>
                <a:srgbClr val="CF3338"/>
              </a:buClr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File: Start with a blank Excel workbook</a:t>
            </a:r>
            <a:endParaRPr lang="en-US" sz="4200" i="1" dirty="0">
              <a:solidFill>
                <a:srgbClr val="707070"/>
              </a:solidFill>
              <a:latin typeface="Pragmatica" panose="020B0403040502020204" pitchFamily="34" charset="0"/>
            </a:endParaRP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05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54200" y="0"/>
            <a:ext cx="37338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0" y="329879"/>
            <a:ext cx="13684170" cy="9995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Appending and merging in Power Query Exercises </a:t>
            </a:r>
            <a:endParaRPr lang="en-US" sz="4000" b="1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endParaRPr lang="en-US" sz="4000" b="1" dirty="0">
              <a:solidFill>
                <a:srgbClr val="CF3338"/>
              </a:solidFill>
              <a:latin typeface="Pragmatica" panose="020B0403040502020204" pitchFamily="34" charset="0"/>
              <a:sym typeface="Consolas"/>
            </a:endParaRP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Append the </a:t>
            </a:r>
            <a:r>
              <a:rPr lang="en-US" sz="36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ewr-flights.csv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, </a:t>
            </a:r>
            <a:r>
              <a:rPr lang="en-US" sz="36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jfk-flights.csv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, and </a:t>
            </a:r>
            <a:r>
              <a:rPr lang="en-US" sz="36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lga-flights.csv 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files, consisting of the flight records from Newark Liberty, John F. Kennedy, and LaGuardia airports, respectively. Name this query flights. (Hint: Select “Three or more tables” from the Append menu in Power Query to expedite this process.) 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Merge this query with </a:t>
            </a:r>
            <a:r>
              <a:rPr lang="en-US" sz="36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planes.xlsx 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using a left outer join, and then an inner join. Call the queries </a:t>
            </a:r>
            <a:r>
              <a:rPr lang="en-US" sz="36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flights_left</a:t>
            </a:r>
            <a:r>
              <a:rPr lang="en-US" sz="36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and </a:t>
            </a:r>
            <a:r>
              <a:rPr lang="en-US" sz="36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flights_inner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, respectively. How many records are returned for each? (Hint: Merge the tables based on </a:t>
            </a:r>
            <a:r>
              <a:rPr lang="en-US" sz="36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tailnum</a:t>
            </a: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).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Multiple workbooks</a:t>
            </a:r>
            <a:endParaRPr lang="en-US" sz="6000" dirty="0">
              <a:solidFill>
                <a:srgbClr val="CF3338"/>
              </a:solidFill>
              <a:latin typeface="Consolas" panose="020B0609020204030204" pitchFamily="49" charset="0"/>
            </a:endParaRPr>
          </a:p>
          <a:p>
            <a:endParaRPr lang="en-US" sz="54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63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96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/>
              </a:rPr>
              <a:t>Data Modeling and Analysis with Power Pivot</a:t>
            </a:r>
          </a:p>
        </p:txBody>
      </p:sp>
    </p:spTree>
    <p:extLst>
      <p:ext uri="{BB962C8B-B14F-4D97-AF65-F5344CB8AC3E}">
        <p14:creationId xmlns:p14="http://schemas.microsoft.com/office/powerpoint/2010/main" val="1843591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5. First steps with Power Pivot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Power Pivot and the Data Model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A brief tour of the Power Pivot add-in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Power Query vs Power Pivot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>
              <a:buClr>
                <a:srgbClr val="CF3338"/>
              </a:buClr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File: </a:t>
            </a:r>
            <a:r>
              <a:rPr lang="en-US" sz="4200" i="1" dirty="0">
                <a:solidFill>
                  <a:srgbClr val="707070"/>
                </a:solidFill>
                <a:latin typeface="Pragmatica" panose="020B0403040502020204" pitchFamily="34" charset="0"/>
              </a:rPr>
              <a:t>first-steps-power-pivot.xlsx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54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54200" y="0"/>
            <a:ext cx="37338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0" y="329879"/>
            <a:ext cx="13684170" cy="10224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First Steps in Power Pivot Exercises</a:t>
            </a:r>
            <a:endParaRPr lang="en-US" sz="4000" b="1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endParaRPr lang="en-US" sz="4000" b="1" dirty="0">
              <a:solidFill>
                <a:srgbClr val="CF3338"/>
              </a:solidFill>
              <a:latin typeface="Pragmatica" panose="020B0403040502020204" pitchFamily="34" charset="0"/>
              <a:sym typeface="Consolas"/>
            </a:endParaRP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What is the purpose of the Power Pivot add-in, and what can it enable you to do? 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Explain the role of the Data Model in Power Pivot and its significance in data analysis.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What is the basic role of DAX measures and key performance indicators in Power Pivot? 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Compare Power Query joins with Power Pivot relationships in terms of combining data sources. 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What are the drawbacks of using lookup functions like VLOOKUP() or XLOOKUP() to merge tables in Excel?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n/a</a:t>
            </a:r>
            <a:endParaRPr lang="en-US" sz="6000" dirty="0">
              <a:solidFill>
                <a:srgbClr val="CF3338"/>
              </a:solidFill>
              <a:latin typeface="Consolas" panose="020B0609020204030204" pitchFamily="49" charset="0"/>
            </a:endParaRPr>
          </a:p>
          <a:p>
            <a:endParaRPr lang="en-US" sz="54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373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6. Creating relational models in Power Pivot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Creating and managing relationships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Understanding cardinality and filter direction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Creating calculated columns with DAX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>
              <a:buClr>
                <a:srgbClr val="CF3338"/>
              </a:buClr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File: </a:t>
            </a:r>
            <a:r>
              <a:rPr lang="en-US" sz="4200" i="1" dirty="0">
                <a:solidFill>
                  <a:srgbClr val="707070"/>
                </a:solidFill>
                <a:latin typeface="Pragmatica" panose="020B0403040502020204" pitchFamily="34" charset="0"/>
              </a:rPr>
              <a:t>creating-relational-models-power-pivot.xlsx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55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54200" y="0"/>
            <a:ext cx="37338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0" y="329879"/>
            <a:ext cx="13684170" cy="10534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CF3338"/>
                </a:solidFill>
                <a:latin typeface="Pragmatica" panose="020B0403040502020204" pitchFamily="34" charset="0"/>
              </a:rPr>
              <a:t>Creating Relational Models in Power Pivot Exercises</a:t>
            </a:r>
            <a:endParaRPr lang="en-US" sz="3600" b="1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endParaRPr lang="en-US" sz="4000" b="1" dirty="0">
              <a:solidFill>
                <a:srgbClr val="CF3338"/>
              </a:solidFill>
              <a:latin typeface="Pragmatica" panose="020B0403040502020204" pitchFamily="34" charset="0"/>
              <a:sym typeface="Consolas"/>
            </a:endParaRP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Load the tables into Power Pivot via Power Query and establish relationships in the Power Pivot Data Model. 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Identify fact and dimension tables in the Data Model and organize the model in Diagram View accordingly. 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What is the cardinality of the relationships between these tables?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the SWITCH() function to generate an </a:t>
            </a: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is_player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column in the </a:t>
            </a: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hof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table. Assign Yes if the category column indicates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Player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, otherwise assign No. 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Create a hierarchy among the </a:t>
            </a: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birthCountry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, </a:t>
            </a: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birthState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, and </a:t>
            </a: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birthCity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fields in the people table. 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Load the Data Model results into an Excel PivotTable. Count the number of players. You can do this by totaling the number of </a:t>
            </a: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playerIDs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that have Yes in the </a:t>
            </a: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is_player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column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2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creating-relational-models-power-pivot-exercises.xlsx</a:t>
            </a:r>
            <a:endParaRPr lang="en-US" sz="5400" dirty="0">
              <a:solidFill>
                <a:srgbClr val="CF3338"/>
              </a:solidFill>
              <a:latin typeface="Consolas" panose="020B0609020204030204" pitchFamily="49" charset="0"/>
            </a:endParaRPr>
          </a:p>
          <a:p>
            <a:endParaRPr lang="en-US" sz="48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286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7. Creating measures and KPIs in Power Pivot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Creating measures with DAX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Implicit vs explicit measures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Creating KPIs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>
              <a:buClr>
                <a:srgbClr val="CF3338"/>
              </a:buClr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File: </a:t>
            </a:r>
            <a:r>
              <a:rPr lang="en-US" sz="4200" i="1" dirty="0">
                <a:solidFill>
                  <a:srgbClr val="707070"/>
                </a:solidFill>
                <a:latin typeface="Pragmatica" panose="020B0403040502020204" pitchFamily="34" charset="0"/>
              </a:rPr>
              <a:t>creating-measures-kpis-power-pivot.xlsx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637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54200" y="0"/>
            <a:ext cx="37338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0" y="329879"/>
            <a:ext cx="13684170" cy="10625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Creating Measures and KPIs in Power Pivot Exercises</a:t>
            </a:r>
            <a:endParaRPr lang="en-US" sz="4000" b="1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endParaRPr lang="en-US" sz="4000" b="1" dirty="0">
              <a:solidFill>
                <a:srgbClr val="CF3338"/>
              </a:solidFill>
              <a:latin typeface="Pragmatica" panose="020B0403040502020204" pitchFamily="34" charset="0"/>
              <a:sym typeface="Consolas"/>
            </a:endParaRP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Create a PivotTable to present the total number of home runs (</a:t>
            </a:r>
            <a:r>
              <a:rPr lang="en-US" sz="24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HR</a:t>
            </a: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) by birth state (</a:t>
            </a:r>
            <a:r>
              <a:rPr lang="en-US" sz="24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birthState</a:t>
            </a: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) using an implicit measure. 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Remove the implicit measure created in step 1 and establish a new explicit measure named </a:t>
            </a:r>
            <a:r>
              <a:rPr lang="en-US" sz="24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hr_total</a:t>
            </a:r>
            <a:r>
              <a:rPr lang="en-US" sz="24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that computes the sum of home runs, formatted as a whole number in thousands. Add this measure to the PivotTable. 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Generate another explicit measure named </a:t>
            </a:r>
            <a:r>
              <a:rPr lang="en-US" sz="24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hr_pct</a:t>
            </a:r>
            <a:r>
              <a:rPr lang="en-US" sz="24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that calculates the percentage of total home runs (</a:t>
            </a:r>
            <a:r>
              <a:rPr lang="en-US" sz="24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HR</a:t>
            </a: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) out of total at bats (</a:t>
            </a:r>
            <a:r>
              <a:rPr lang="en-US" sz="24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AB</a:t>
            </a: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) from the batting table. Format the result as a percentage. Feel free to create an additional total at bats measure to assist with this. 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Develop a KPI based on the metric </a:t>
            </a:r>
            <a:r>
              <a:rPr lang="en-US" sz="24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hr_pct</a:t>
            </a:r>
            <a:r>
              <a:rPr lang="en-US" sz="24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aiming for a target absolute value of 1. Use the following status thresholds: </a:t>
            </a:r>
          </a:p>
          <a:p>
            <a:pPr marL="1343025" lvl="1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Less than 2%: Red status </a:t>
            </a:r>
          </a:p>
          <a:p>
            <a:pPr marL="1343025" lvl="1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Between 2% and 3%: Yellow status </a:t>
            </a:r>
          </a:p>
          <a:p>
            <a:pPr marL="1343025" lvl="1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Greater than 3%: Green status </a:t>
            </a:r>
          </a:p>
          <a:p>
            <a:pPr marL="885825" indent="-7429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AutoNum type="arabicPeriod"/>
            </a:pP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Apply the KPI to a PivotTable that displays </a:t>
            </a:r>
            <a:r>
              <a:rPr lang="en-US" sz="2400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teamID</a:t>
            </a: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along the Rows and </a:t>
            </a:r>
            <a:r>
              <a:rPr lang="en-US" sz="2400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yearID</a:t>
            </a: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along the Columns.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24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creating-measures-kpis-power-pivot-exercises.xlsx</a:t>
            </a:r>
            <a:endParaRPr lang="en-US" sz="4400" dirty="0">
              <a:solidFill>
                <a:srgbClr val="CF3338"/>
              </a:solidFill>
              <a:latin typeface="Consolas" panose="020B0609020204030204" pitchFamily="49" charset="0"/>
            </a:endParaRPr>
          </a:p>
          <a:p>
            <a:endParaRPr lang="en-US" sz="40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01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8. Intermediate DAX for Power Pivot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Modified filter context with CALCULATE()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Time intelligence functions</a:t>
            </a:r>
          </a:p>
          <a:p>
            <a:pPr>
              <a:buClr>
                <a:srgbClr val="CF3338"/>
              </a:buClr>
            </a:pP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>
              <a:buClr>
                <a:srgbClr val="CF3338"/>
              </a:buClr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File: </a:t>
            </a:r>
            <a:r>
              <a:rPr lang="en-US" sz="4200" i="1" dirty="0">
                <a:solidFill>
                  <a:srgbClr val="707070"/>
                </a:solidFill>
                <a:latin typeface="Pragmatica" panose="020B0403040502020204" pitchFamily="34" charset="0"/>
              </a:rPr>
              <a:t>intermediate-dax-power-pivot.xlsx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43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54200" y="0"/>
            <a:ext cx="37338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0" y="329879"/>
            <a:ext cx="13684170" cy="10060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Intermediate DAX for Power Pivot Exercises</a:t>
            </a:r>
            <a:endParaRPr lang="en-US" sz="4000" b="1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endParaRPr lang="en-US" sz="4000" b="1" dirty="0">
              <a:solidFill>
                <a:srgbClr val="CF3338"/>
              </a:solidFill>
              <a:latin typeface="Pragmatica" panose="020B0403040502020204" pitchFamily="34" charset="0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Load the data into Power Pivot via Power Query and create the following measures: </a:t>
            </a:r>
          </a:p>
          <a:p>
            <a:pPr marL="600075" indent="-4572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accessories_rev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: Returns the total revenue when </a:t>
            </a:r>
            <a:r>
              <a:rPr lang="en-US" sz="3200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product_category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is set to Accessories.</a:t>
            </a:r>
          </a:p>
          <a:p>
            <a:pPr marL="600075" indent="-4572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accessories_rev_aus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: Returns the total revenue when both </a:t>
            </a:r>
            <a:r>
              <a:rPr lang="en-US" sz="3200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product_category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is Accessories and country is Australia. </a:t>
            </a:r>
          </a:p>
          <a:p>
            <a:pPr marL="600075" indent="-4572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aov_all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: Calculates the total revenue divided by the total order quantity across the entire dataset, irrespective of applied filters. </a:t>
            </a:r>
          </a:p>
          <a:p>
            <a:pPr marL="600075" indent="-4572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profit_margin_ytd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: Returns the year-to-date profit margin. </a:t>
            </a:r>
          </a:p>
          <a:p>
            <a:pPr marL="600075" indent="-4572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profit_margin_ly_ytd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: Returns the year-to-date profit margin for the previous year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2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intermediate-dax-power-pivot-exercises.csv</a:t>
            </a:r>
            <a:endParaRPr lang="en-US" sz="5400" dirty="0">
              <a:solidFill>
                <a:srgbClr val="CF3338"/>
              </a:solidFill>
              <a:latin typeface="Consolas" panose="020B0609020204030204" pitchFamily="49" charset="0"/>
            </a:endParaRPr>
          </a:p>
          <a:p>
            <a:endParaRPr lang="en-US" sz="48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5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19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/>
              </a:rPr>
              <a:t>The Excel Analytics Toolkit</a:t>
            </a:r>
          </a:p>
        </p:txBody>
      </p:sp>
    </p:spTree>
    <p:extLst>
      <p:ext uri="{BB962C8B-B14F-4D97-AF65-F5344CB8AC3E}">
        <p14:creationId xmlns:p14="http://schemas.microsoft.com/office/powerpoint/2010/main" val="3055499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9. Introducing dynamic array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Arrays, dynamic arrays, and dynamic array functions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Finding unique and distinct values with UNIQUE()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Filtering records with FILTER()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Sorting records with SORTBY()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Creating modern lookups with XLOOKUP()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>
              <a:buClr>
                <a:srgbClr val="CF3338"/>
              </a:buClr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File: </a:t>
            </a:r>
            <a:r>
              <a:rPr lang="en-US" sz="4200" i="1" dirty="0">
                <a:solidFill>
                  <a:srgbClr val="707070"/>
                </a:solidFill>
                <a:latin typeface="Pragmatica" panose="020B0403040502020204" pitchFamily="34" charset="0"/>
              </a:rPr>
              <a:t>introducing-dynamic-array-functions.xlsx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754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54200" y="0"/>
            <a:ext cx="37338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0" y="329879"/>
            <a:ext cx="13684170" cy="10201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Introducing dynamic array functions Exercises</a:t>
            </a:r>
            <a:endParaRPr lang="en-US" sz="4000" b="1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endParaRPr lang="en-US" sz="4000" b="1" dirty="0">
              <a:solidFill>
                <a:srgbClr val="CF3338"/>
              </a:solidFill>
              <a:latin typeface="Pragmatica" panose="020B0403040502020204" pitchFamily="34" charset="0"/>
              <a:sym typeface="Consolas"/>
            </a:endParaRP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Find the distinct and truly unique values in the make column of the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vehicles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dataset. How many are there of each?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Display only the vehicles with city mileage greater than 30.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Display only the vehicles where either the city mileage is greater than 30, or where both cylinders are less than 6 and fuel is Regular.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Sort the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vehicles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dataset in descending order based on the highway mileage.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Sort just the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model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column of the common dataset based on the years column, descending.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Add the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years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column from the common dataset to the vehicles dataset. Return </a:t>
            </a:r>
            <a:r>
              <a:rPr lang="en-US" sz="32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Not reported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if a match is not found.</a:t>
            </a:r>
          </a:p>
          <a:p>
            <a:pPr marL="600075" indent="-45720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endParaRPr lang="en-US" sz="3200" dirty="0">
              <a:solidFill>
                <a:srgbClr val="C00000"/>
              </a:solidFill>
              <a:latin typeface="Pragmatica" panose="020B0403040502020204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2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introducing-dynamic-array-functions-exercises.xlsx</a:t>
            </a:r>
            <a:endParaRPr lang="en-US" sz="5400" dirty="0">
              <a:solidFill>
                <a:srgbClr val="CF3338"/>
              </a:solidFill>
              <a:latin typeface="Consolas" panose="020B0609020204030204" pitchFamily="49" charset="0"/>
            </a:endParaRPr>
          </a:p>
          <a:p>
            <a:endParaRPr lang="en-US" sz="48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4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10. Augmented analytics and the future of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Analyze Data for AI-powered insights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OCR with Data from Image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Sentiment analysis with Azure Machine Learning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>
              <a:buClr>
                <a:srgbClr val="CF3338"/>
              </a:buClr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File: </a:t>
            </a:r>
            <a:r>
              <a:rPr lang="en-US" sz="4200" i="1" dirty="0">
                <a:solidFill>
                  <a:srgbClr val="707070"/>
                </a:solidFill>
                <a:latin typeface="Pragmatica" panose="020B0403040502020204" pitchFamily="34" charset="0"/>
              </a:rPr>
              <a:t>augmented-analytics-future-excel.xlsx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66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54200" y="0"/>
            <a:ext cx="37338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0" y="329879"/>
            <a:ext cx="13684170" cy="1061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Augmented analytics and the future of Excel Exercises</a:t>
            </a:r>
            <a:endParaRPr lang="en-US" sz="4000" b="1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endParaRPr lang="en-US" sz="4000" b="1" dirty="0">
              <a:solidFill>
                <a:srgbClr val="CF3338"/>
              </a:solidFill>
              <a:latin typeface="Pragmatica" panose="020B0403040502020204" pitchFamily="34" charset="0"/>
              <a:sym typeface="Consolas"/>
            </a:endParaRP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40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Perform sentiment analysis on a dataset of movie reviews located in the </a:t>
            </a:r>
            <a:r>
              <a:rPr lang="en-US" sz="4000" i="1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imdb</a:t>
            </a:r>
            <a:r>
              <a:rPr lang="en-US" sz="40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</a:t>
            </a:r>
            <a:r>
              <a:rPr lang="en-US" sz="40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 using the Azure Machine Learning add-in. Afterwards, apply the </a:t>
            </a:r>
            <a:r>
              <a:rPr lang="en-US" sz="4000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XLMiner</a:t>
            </a:r>
            <a:r>
              <a:rPr lang="en-US" sz="40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add-in to generate descriptive statistics for the obtained scores. </a:t>
            </a:r>
          </a:p>
          <a:p>
            <a:pPr marL="657225" indent="-514350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+mj-lt"/>
              <a:buAutoNum type="arabicPeriod"/>
            </a:pPr>
            <a:r>
              <a:rPr lang="en-US" sz="40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Import the </a:t>
            </a:r>
            <a:r>
              <a:rPr lang="en-US" sz="4000" i="1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life_expectancy.png </a:t>
            </a:r>
            <a:r>
              <a:rPr lang="en-US" sz="40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image into Excel. Use the Analyze Data feature to produce a line chart that illustrates the average life expectancy over time. It might be necessary to adjust the data format to achieve this.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40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40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augmented-analytics-future-excel-exercises.xlsx</a:t>
            </a:r>
            <a:endParaRPr lang="en-US" sz="6600" dirty="0">
              <a:solidFill>
                <a:srgbClr val="CF3338"/>
              </a:solidFill>
              <a:latin typeface="Consolas" panose="020B0609020204030204" pitchFamily="49" charset="0"/>
            </a:endParaRPr>
          </a:p>
          <a:p>
            <a:endParaRPr lang="en-US" sz="48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404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iens &amp; cows" panose="00000500000000000000" pitchFamily="2" charset="0"/>
              </a:rPr>
              <a:t>11. Python with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Understanding the Python in Excel environment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Loading Excel data into Python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Converting Python objects to Excel values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>
              <a:buClr>
                <a:srgbClr val="CF3338"/>
              </a:buClr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File: </a:t>
            </a:r>
            <a:r>
              <a:rPr lang="en-US" sz="4200" i="1" dirty="0">
                <a:solidFill>
                  <a:srgbClr val="707070"/>
                </a:solidFill>
                <a:latin typeface="Pragmatica" panose="020B0403040502020204" pitchFamily="34" charset="0"/>
              </a:rPr>
              <a:t>python-with-excel.xlsx</a:t>
            </a: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 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035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29F31-7D3D-8637-4364-EE44F333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651FB2-73C2-0D93-0184-282838D2F1A6}"/>
              </a:ext>
            </a:extLst>
          </p:cNvPr>
          <p:cNvSpPr/>
          <p:nvPr/>
        </p:nvSpPr>
        <p:spPr>
          <a:xfrm>
            <a:off x="14325600" y="0"/>
            <a:ext cx="39624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2BD2E9-2ADF-A29E-F050-8566794C387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9F75D3-10EC-7243-1341-74B055CD36DD}"/>
              </a:ext>
            </a:extLst>
          </p:cNvPr>
          <p:cNvSpPr txBox="1"/>
          <p:nvPr/>
        </p:nvSpPr>
        <p:spPr>
          <a:xfrm>
            <a:off x="260430" y="329879"/>
            <a:ext cx="11245769" cy="8166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Python with Excel exercises</a:t>
            </a:r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Load the penguins dataset into a </a:t>
            </a:r>
            <a:r>
              <a:rPr lang="en-US" sz="3200" dirty="0" err="1">
                <a:solidFill>
                  <a:srgbClr val="C00000"/>
                </a:solidFill>
                <a:latin typeface="Pragmatica" panose="020B0403040502020204"/>
                <a:sym typeface="Consolas"/>
              </a:rPr>
              <a:t>DataFrame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 called </a:t>
            </a:r>
            <a:r>
              <a:rPr lang="en-US" sz="32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penguins_df</a:t>
            </a:r>
            <a:endParaRPr lang="en-US" sz="32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Check the resulting dataset’s columns: run </a:t>
            </a:r>
            <a:r>
              <a:rPr lang="en-US" sz="32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penguins_df.columns</a:t>
            </a:r>
            <a:r>
              <a:rPr lang="en-US" sz="32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.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Switch the output to display in Excel</a:t>
            </a:r>
            <a:endParaRPr lang="en-US" sz="32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Visualize relationship b/w bill length and body mass: run </a:t>
            </a:r>
            <a:r>
              <a:rPr lang="en-US" sz="32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sns.scatterplot</a:t>
            </a:r>
            <a:r>
              <a:rPr lang="en-US" sz="32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(x='</a:t>
            </a:r>
            <a:r>
              <a:rPr lang="en-US" sz="32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bill_length_mm</a:t>
            </a:r>
            <a:r>
              <a:rPr lang="en-US" sz="32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', y='</a:t>
            </a:r>
            <a:r>
              <a:rPr lang="en-US" sz="32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body_mass_g</a:t>
            </a:r>
            <a:r>
              <a:rPr lang="en-US" sz="32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', data=</a:t>
            </a:r>
            <a:r>
              <a:rPr lang="en-US" sz="32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penguins_df</a:t>
            </a:r>
            <a:r>
              <a:rPr lang="en-US" sz="32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). </a:t>
            </a: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Practice resizing this plot.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2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python-with-excel-exercises.xlsx</a:t>
            </a:r>
            <a:endParaRPr lang="en-US" sz="5400" dirty="0">
              <a:solidFill>
                <a:srgbClr val="CF3338"/>
              </a:solidFill>
              <a:latin typeface="Consolas" panose="020B0609020204030204" pitchFamily="49" charset="0"/>
            </a:endParaRPr>
          </a:p>
          <a:p>
            <a:endParaRPr lang="en-US" sz="60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742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7743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EB9D66-9CB4-B474-27D6-F594F19E2A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578B23-3522-A45E-113D-CFC55209E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598656"/>
            <a:ext cx="13716000" cy="3581400"/>
          </a:xfrm>
        </p:spPr>
        <p:txBody>
          <a:bodyPr>
            <a:normAutofit/>
          </a:bodyPr>
          <a:lstStyle/>
          <a:p>
            <a:r>
              <a:rPr lang="en-BG" sz="9900" b="1" dirty="0">
                <a:solidFill>
                  <a:srgbClr val="241F62"/>
                </a:solidFill>
                <a:latin typeface="+mn-lt"/>
              </a:rPr>
              <a:t>Thank you!</a:t>
            </a:r>
          </a:p>
        </p:txBody>
      </p:sp>
      <p:pic>
        <p:nvPicPr>
          <p:cNvPr id="7" name="Picture 6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CADADD3B-A58B-45A3-D5DF-D99E4EB05D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902"/>
          <a:stretch/>
        </p:blipFill>
        <p:spPr>
          <a:xfrm>
            <a:off x="3118754" y="1034024"/>
            <a:ext cx="1981200" cy="99449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6E2CA1-16F0-B4E0-64B9-88EB622CDE69}"/>
              </a:ext>
            </a:extLst>
          </p:cNvPr>
          <p:cNvCxnSpPr>
            <a:cxnSpLocks/>
          </p:cNvCxnSpPr>
          <p:nvPr/>
        </p:nvCxnSpPr>
        <p:spPr>
          <a:xfrm>
            <a:off x="3118755" y="8784773"/>
            <a:ext cx="15169245" cy="0"/>
          </a:xfrm>
          <a:prstGeom prst="line">
            <a:avLst/>
          </a:prstGeom>
          <a:ln>
            <a:solidFill>
              <a:srgbClr val="241F6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A8985E1-8F90-F6B0-F7EC-CDDE7A733DF7}"/>
              </a:ext>
            </a:extLst>
          </p:cNvPr>
          <p:cNvSpPr txBox="1">
            <a:spLocks/>
          </p:cNvSpPr>
          <p:nvPr/>
        </p:nvSpPr>
        <p:spPr>
          <a:xfrm>
            <a:off x="3118756" y="6730499"/>
            <a:ext cx="8204753" cy="1002020"/>
          </a:xfrm>
          <a:prstGeom prst="rect">
            <a:avLst/>
          </a:prstGeom>
        </p:spPr>
        <p:txBody>
          <a:bodyPr vert="horz" lIns="137160" tIns="68580" rIns="137160" bIns="6858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l"/>
            <a:r>
              <a:rPr lang="en-GB" sz="5400" dirty="0">
                <a:solidFill>
                  <a:srgbClr val="241F62"/>
                </a:solidFill>
              </a:rPr>
              <a:t>George Mount</a:t>
            </a:r>
            <a:endParaRPr lang="en-BG" sz="5400" dirty="0">
              <a:solidFill>
                <a:srgbClr val="241F62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DE1D4A-D586-7074-E50D-A5B56F7BCC15}"/>
              </a:ext>
            </a:extLst>
          </p:cNvPr>
          <p:cNvSpPr txBox="1">
            <a:spLocks/>
          </p:cNvSpPr>
          <p:nvPr/>
        </p:nvSpPr>
        <p:spPr>
          <a:xfrm>
            <a:off x="3118754" y="7732518"/>
            <a:ext cx="8204753" cy="945771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sz="4200" dirty="0">
                <a:solidFill>
                  <a:srgbClr val="241F62"/>
                </a:solidFill>
                <a:latin typeface="+mj-lt"/>
              </a:rPr>
              <a:t>Owner, </a:t>
            </a:r>
            <a:r>
              <a:rPr lang="en-GB" sz="4200" dirty="0" err="1">
                <a:solidFill>
                  <a:srgbClr val="241F62"/>
                </a:solidFill>
                <a:latin typeface="+mj-lt"/>
              </a:rPr>
              <a:t>Stringfest</a:t>
            </a:r>
            <a:r>
              <a:rPr lang="en-GB" sz="4200" dirty="0">
                <a:solidFill>
                  <a:srgbClr val="241F62"/>
                </a:solidFill>
                <a:latin typeface="+mj-lt"/>
              </a:rPr>
              <a:t> Analytics</a:t>
            </a:r>
            <a:endParaRPr lang="en-BG" sz="4200" dirty="0">
              <a:solidFill>
                <a:srgbClr val="241F62"/>
              </a:solidFill>
              <a:latin typeface="+mj-lt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1C295B-FF22-B70D-472D-005A6DA36038}"/>
              </a:ext>
            </a:extLst>
          </p:cNvPr>
          <p:cNvSpPr txBox="1">
            <a:spLocks/>
          </p:cNvSpPr>
          <p:nvPr/>
        </p:nvSpPr>
        <p:spPr>
          <a:xfrm>
            <a:off x="3599974" y="9087789"/>
            <a:ext cx="6368147" cy="945771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sz="3200" dirty="0">
                <a:solidFill>
                  <a:srgbClr val="241F62"/>
                </a:solidFill>
              </a:rPr>
              <a:t>stringfestanalytics.com</a:t>
            </a:r>
            <a:endParaRPr lang="en-BG" sz="3200" dirty="0">
              <a:solidFill>
                <a:srgbClr val="241F62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8758F10-53E3-C630-0422-E4789496DCF5}"/>
              </a:ext>
            </a:extLst>
          </p:cNvPr>
          <p:cNvSpPr txBox="1">
            <a:spLocks/>
          </p:cNvSpPr>
          <p:nvPr/>
        </p:nvSpPr>
        <p:spPr>
          <a:xfrm>
            <a:off x="8554808" y="9087789"/>
            <a:ext cx="3372150" cy="945771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rgbClr val="241F62"/>
                </a:solidFill>
              </a:rPr>
              <a:t>George Mount</a:t>
            </a:r>
            <a:endParaRPr lang="en-BG" sz="3600" dirty="0">
              <a:solidFill>
                <a:srgbClr val="241F6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4B3460-4BA9-3488-F2B8-387A09E6D3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73587" y="9379700"/>
            <a:ext cx="361950" cy="3619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9ED92D-10C9-7EA6-C719-CC63A8906E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18754" y="9354912"/>
            <a:ext cx="361950" cy="3619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437C69-0BD3-C2F3-E6CD-963C3E9AE5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64561" y="9354912"/>
            <a:ext cx="361950" cy="36195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73C888AA-12C8-1F73-16FF-2F8C1826D5F5}"/>
              </a:ext>
            </a:extLst>
          </p:cNvPr>
          <p:cNvSpPr txBox="1">
            <a:spLocks/>
          </p:cNvSpPr>
          <p:nvPr/>
        </p:nvSpPr>
        <p:spPr>
          <a:xfrm>
            <a:off x="12755658" y="9087789"/>
            <a:ext cx="3372150" cy="945771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sz="3600" dirty="0">
                <a:solidFill>
                  <a:srgbClr val="241F62"/>
                </a:solidFill>
              </a:rPr>
              <a:t>@gjmount</a:t>
            </a:r>
            <a:endParaRPr lang="en-BG" sz="3600" dirty="0">
              <a:solidFill>
                <a:srgbClr val="241F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852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2482</TotalTime>
  <Words>1865</Words>
  <Application>Microsoft Office PowerPoint</Application>
  <PresentationFormat>Custom</PresentationFormat>
  <Paragraphs>224</Paragraphs>
  <Slides>34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Normafixed Tryout</vt:lpstr>
      <vt:lpstr>Plus Jakarta Display</vt:lpstr>
      <vt:lpstr>Arial</vt:lpstr>
      <vt:lpstr>Consolas</vt:lpstr>
      <vt:lpstr>Pragmatica</vt:lpstr>
      <vt:lpstr>Calibri</vt:lpstr>
      <vt:lpstr>Aliens &amp; cows</vt:lpstr>
      <vt:lpstr>Office Theme</vt:lpstr>
      <vt:lpstr>Modern Data Analytics in Excel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excel-statistics-for-business-analytics</dc:title>
  <dc:creator>User</dc:creator>
  <cp:lastModifiedBy>George Mount</cp:lastModifiedBy>
  <cp:revision>223</cp:revision>
  <dcterms:created xsi:type="dcterms:W3CDTF">2006-08-16T00:00:00Z</dcterms:created>
  <dcterms:modified xsi:type="dcterms:W3CDTF">2025-09-13T11:55:50Z</dcterms:modified>
  <dc:identifier>DADurESpNu8</dc:identifier>
</cp:coreProperties>
</file>